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 this is not just us and our friends. We ran a survey - 43 people, collected over two days in May. The pattern is everywhere. Nearly nine in ten people, when they are only slightly unsure, send a maybe or just go silent. More than half said at least a third of their hangouts get talked about and never happen. And bigger groups are harder, not easier.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three, and this is the heart of it. At the deadline the top time wins automatically and a blind moment opens. Each person privately answers one of three things: I'm in, I can't make it, or I'll go if certain people go. And it is blind: there is no running tally and you cannot see who else is in. A push notification, BeReal-style, makes sure they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Quickly, under the hood. BeThere is a typed monorepo. An Expo React Native client - eight screens - runs on iOS, Android and web from one codebase. It talks to a Fastify and tRPC server over plain HTTP; that server holds the logic that matters: auth, the routers, and settlePhase, which resolves a plan's phase lazily. That writes through Drizzle into Postgres. Holding it together is a shared package of Zod schemas and pure logic. Dashed boxes are services outside our code: Clerk, AWS and Vercel.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CEFE8"/>
              </a:gs>
              <a:gs pos="100000">
                <a:srgbClr val="ECEAF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500" y="609600"/>
            <a:ext cx="5005982" cy="6985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spc="-150">
                <a:solidFill>
                  <a:srgbClr val="111111"/>
                </a:solidFill>
                <a:latin typeface="Archivo"/>
              </a:rPr>
              <a:t>Plans </a:t>
            </a:r>
            <a:r>
              <a:rPr sz="4400" b="1" spc="-150">
                <a:solidFill>
                  <a:srgbClr val="111111"/>
                </a:solidFill>
                <a:latin typeface="Archivo"/>
              </a:rPr>
              <a:t>dying </a:t>
            </a:r>
            <a:r>
              <a:rPr sz="4400" b="1" spc="-150">
                <a:solidFill>
                  <a:srgbClr val="111111"/>
                </a:solidFill>
                <a:latin typeface="Archivo"/>
              </a:rPr>
              <a:t>is </a:t>
            </a:r>
            <a:r>
              <a:rPr sz="4400" b="1" spc="-150">
                <a:solidFill>
                  <a:srgbClr val="111111"/>
                </a:solidFill>
                <a:latin typeface="Archivo"/>
              </a:rPr>
              <a:t>the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15582" y="625348"/>
            <a:ext cx="1628775" cy="592328"/>
          </a:xfrm>
          <a:prstGeom prst="roundRect">
            <a:avLst>
              <a:gd name="adj" fmla="val 8576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77482" y="587248"/>
            <a:ext cx="1628775" cy="592328"/>
          </a:xfrm>
          <a:prstGeom prst="roundRect">
            <a:avLst>
              <a:gd name="adj" fmla="val 8576"/>
            </a:avLst>
          </a:prstGeom>
          <a:solidFill>
            <a:srgbClr val="FF5CA8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7482" y="587248"/>
            <a:ext cx="1628775" cy="592328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spc="-150">
                <a:solidFill>
                  <a:srgbClr val="FFFFFF"/>
                </a:solidFill>
                <a:latin typeface="Archivo"/>
              </a:rPr>
              <a:t>norm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6257" y="609600"/>
            <a:ext cx="313035" cy="6985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spc="-150">
                <a:solidFill>
                  <a:srgbClr val="111111"/>
                </a:solidFill>
                <a:latin typeface="Archivo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5690" y="952500"/>
            <a:ext cx="3427809" cy="24130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65690" y="952500"/>
            <a:ext cx="3427809" cy="2413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Space Mono"/>
              </a:rPr>
              <a:t>Friend </a:t>
            </a:r>
            <a:r>
              <a:rPr sz="1100" b="1">
                <a:solidFill>
                  <a:srgbClr val="111111"/>
                </a:solidFill>
                <a:latin typeface="Space Mono"/>
              </a:rPr>
              <a:t>Meetup </a:t>
            </a:r>
            <a:r>
              <a:rPr sz="1100" b="1">
                <a:solidFill>
                  <a:srgbClr val="111111"/>
                </a:solidFill>
                <a:latin typeface="Space Mono"/>
              </a:rPr>
              <a:t>Survey </a:t>
            </a:r>
            <a:r>
              <a:rPr sz="1100" b="1">
                <a:solidFill>
                  <a:srgbClr val="111111"/>
                </a:solidFill>
                <a:latin typeface="Space Mono"/>
              </a:rPr>
              <a:t>· </a:t>
            </a:r>
            <a:r>
              <a:rPr sz="1100" b="1">
                <a:solidFill>
                  <a:srgbClr val="111111"/>
                </a:solidFill>
                <a:latin typeface="Space Mono"/>
              </a:rPr>
              <a:t>n=43 </a:t>
            </a:r>
            <a:r>
              <a:rPr sz="1100" b="1">
                <a:solidFill>
                  <a:srgbClr val="111111"/>
                </a:solidFill>
                <a:latin typeface="Space Mono"/>
              </a:rPr>
              <a:t>· </a:t>
            </a:r>
            <a:r>
              <a:rPr sz="1100" b="1">
                <a:solidFill>
                  <a:srgbClr val="111111"/>
                </a:solidFill>
                <a:latin typeface="Space Mono"/>
              </a:rPr>
              <a:t>May </a:t>
            </a:r>
            <a:r>
              <a:rPr sz="1100" b="1">
                <a:solidFill>
                  <a:srgbClr val="111111"/>
                </a:solidFill>
                <a:latin typeface="Space Mono"/>
              </a:rPr>
              <a:t>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300" y="2781300"/>
            <a:ext cx="3429000" cy="2286000"/>
          </a:xfrm>
          <a:prstGeom prst="roundRect">
            <a:avLst>
              <a:gd name="adj" fmla="val 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98500" y="2730500"/>
            <a:ext cx="34290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7100" y="2984500"/>
            <a:ext cx="1334095" cy="10001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500" b="1">
                <a:solidFill>
                  <a:srgbClr val="FF5CA8"/>
                </a:solidFill>
                <a:latin typeface="Archivo"/>
              </a:rPr>
              <a:t>86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7695" y="3441700"/>
            <a:ext cx="508000" cy="4889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FF5CA8"/>
                </a:solidFill>
                <a:latin typeface="Archivo"/>
              </a:rPr>
              <a:t>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7100" y="3994150"/>
            <a:ext cx="2971800" cy="831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11111"/>
                </a:solidFill>
                <a:latin typeface="Inter"/>
              </a:rPr>
              <a:t>send </a:t>
            </a:r>
            <a:r>
              <a:rPr sz="1500" b="0">
                <a:solidFill>
                  <a:srgbClr val="111111"/>
                </a:solidFill>
                <a:latin typeface="Inter"/>
              </a:rPr>
              <a:t>a </a:t>
            </a:r>
            <a:r>
              <a:rPr sz="1500" b="1">
                <a:solidFill>
                  <a:srgbClr val="111111"/>
                </a:solidFill>
                <a:latin typeface="Inter"/>
              </a:rPr>
              <a:t>“maybe”</a:t>
            </a:r>
            <a:r>
              <a:rPr sz="1500" b="0">
                <a:solidFill>
                  <a:srgbClr val="111111"/>
                </a:solidFill>
                <a:latin typeface="Inter"/>
              </a:rPr>
              <a:t> </a:t>
            </a:r>
            <a:r>
              <a:rPr sz="1500" b="0">
                <a:solidFill>
                  <a:srgbClr val="111111"/>
                </a:solidFill>
                <a:latin typeface="Inter"/>
              </a:rPr>
              <a:t>or </a:t>
            </a:r>
            <a:r>
              <a:rPr sz="1500" b="0">
                <a:solidFill>
                  <a:srgbClr val="111111"/>
                </a:solidFill>
                <a:latin typeface="Inter"/>
              </a:rPr>
              <a:t>nothing </a:t>
            </a:r>
            <a:r>
              <a:rPr sz="1500" b="0">
                <a:solidFill>
                  <a:srgbClr val="111111"/>
                </a:solidFill>
                <a:latin typeface="Inter"/>
              </a:rPr>
              <a:t>at 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11111"/>
                </a:solidFill>
                <a:latin typeface="Inter"/>
              </a:rPr>
              <a:t>all </a:t>
            </a:r>
            <a:r>
              <a:rPr sz="1500" b="0">
                <a:solidFill>
                  <a:srgbClr val="111111"/>
                </a:solidFill>
                <a:latin typeface="Inter"/>
              </a:rPr>
              <a:t>when </a:t>
            </a:r>
            <a:r>
              <a:rPr sz="1500" b="0">
                <a:solidFill>
                  <a:srgbClr val="111111"/>
                </a:solidFill>
                <a:latin typeface="Inter"/>
              </a:rPr>
              <a:t>they </a:t>
            </a:r>
            <a:r>
              <a:rPr sz="1500" b="0">
                <a:solidFill>
                  <a:srgbClr val="111111"/>
                </a:solidFill>
                <a:latin typeface="Inter"/>
              </a:rPr>
              <a:t>are </a:t>
            </a:r>
            <a:r>
              <a:rPr sz="1500" b="0">
                <a:solidFill>
                  <a:srgbClr val="111111"/>
                </a:solidFill>
                <a:latin typeface="Inter"/>
              </a:rPr>
              <a:t>only </a:t>
            </a:r>
            <a:r>
              <a:rPr sz="1500" b="0">
                <a:solidFill>
                  <a:srgbClr val="111111"/>
                </a:solidFill>
                <a:latin typeface="Inter"/>
              </a:rPr>
              <a:t>slightly 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11111"/>
                </a:solidFill>
                <a:latin typeface="Inter"/>
              </a:rPr>
              <a:t>unsure.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2300" y="2781300"/>
            <a:ext cx="3429000" cy="2286000"/>
          </a:xfrm>
          <a:prstGeom prst="roundRect">
            <a:avLst>
              <a:gd name="adj" fmla="val 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81500" y="2730500"/>
            <a:ext cx="34290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0100" y="2984500"/>
            <a:ext cx="1334095" cy="10001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500" b="1">
                <a:solidFill>
                  <a:srgbClr val="111111"/>
                </a:solidFill>
                <a:latin typeface="Archivo"/>
              </a:rPr>
              <a:t>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80695" y="3441700"/>
            <a:ext cx="792460" cy="4889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7D7A86"/>
                </a:solidFill>
                <a:latin typeface="Archivo"/>
              </a:rPr>
              <a:t>/43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0100" y="3994150"/>
            <a:ext cx="2971800" cy="831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11111"/>
                </a:solidFill>
                <a:latin typeface="Inter"/>
              </a:rPr>
              <a:t>say </a:t>
            </a:r>
            <a:r>
              <a:rPr sz="1500" b="0">
                <a:solidFill>
                  <a:srgbClr val="111111"/>
                </a:solidFill>
                <a:latin typeface="Inter"/>
              </a:rPr>
              <a:t>a </a:t>
            </a:r>
            <a:r>
              <a:rPr sz="1500" b="0">
                <a:solidFill>
                  <a:srgbClr val="111111"/>
                </a:solidFill>
                <a:latin typeface="Inter"/>
              </a:rPr>
              <a:t>third </a:t>
            </a:r>
            <a:r>
              <a:rPr sz="1500" b="0">
                <a:solidFill>
                  <a:srgbClr val="111111"/>
                </a:solidFill>
                <a:latin typeface="Inter"/>
              </a:rPr>
              <a:t>or </a:t>
            </a:r>
            <a:r>
              <a:rPr sz="1500" b="0">
                <a:solidFill>
                  <a:srgbClr val="111111"/>
                </a:solidFill>
                <a:latin typeface="Inter"/>
              </a:rPr>
              <a:t>more </a:t>
            </a:r>
            <a:r>
              <a:rPr sz="1500" b="0">
                <a:solidFill>
                  <a:srgbClr val="111111"/>
                </a:solidFill>
                <a:latin typeface="Inter"/>
              </a:rPr>
              <a:t>of </a:t>
            </a:r>
            <a:r>
              <a:rPr sz="1500" b="0">
                <a:solidFill>
                  <a:srgbClr val="111111"/>
                </a:solidFill>
                <a:latin typeface="Inter"/>
              </a:rPr>
              <a:t>their 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11111"/>
                </a:solidFill>
                <a:latin typeface="Inter"/>
              </a:rPr>
              <a:t>hangouts </a:t>
            </a:r>
            <a:r>
              <a:rPr sz="1500" b="0">
                <a:solidFill>
                  <a:srgbClr val="111111"/>
                </a:solidFill>
                <a:latin typeface="Inter"/>
              </a:rPr>
              <a:t>get </a:t>
            </a:r>
            <a:r>
              <a:rPr sz="1500" b="0">
                <a:solidFill>
                  <a:srgbClr val="111111"/>
                </a:solidFill>
                <a:latin typeface="Inter"/>
              </a:rPr>
              <a:t>talked </a:t>
            </a:r>
            <a:r>
              <a:rPr sz="1500" b="0">
                <a:solidFill>
                  <a:srgbClr val="111111"/>
                </a:solidFill>
                <a:latin typeface="Inter"/>
              </a:rPr>
              <a:t>about </a:t>
            </a:r>
            <a:r>
              <a:rPr sz="1500" b="0">
                <a:solidFill>
                  <a:srgbClr val="111111"/>
                </a:solidFill>
                <a:latin typeface="Inter"/>
              </a:rPr>
              <a:t>but 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11111"/>
                </a:solidFill>
                <a:latin typeface="Inter"/>
              </a:rPr>
              <a:t>never </a:t>
            </a:r>
            <a:r>
              <a:rPr sz="1500" b="0">
                <a:solidFill>
                  <a:srgbClr val="111111"/>
                </a:solidFill>
                <a:latin typeface="Inter"/>
              </a:rPr>
              <a:t>happen.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5300" y="2781300"/>
            <a:ext cx="3429000" cy="2286000"/>
          </a:xfrm>
          <a:prstGeom prst="roundRect">
            <a:avLst>
              <a:gd name="adj" fmla="val 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64500" y="2730500"/>
            <a:ext cx="34290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93100" y="2984500"/>
            <a:ext cx="698797" cy="10001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500" b="1">
                <a:solidFill>
                  <a:srgbClr val="7E6BB0"/>
                </a:solidFill>
                <a:latin typeface="Archivo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100" y="3994150"/>
            <a:ext cx="2971800" cy="8318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11111"/>
                </a:solidFill>
                <a:latin typeface="Inter"/>
              </a:rPr>
              <a:t>people </a:t>
            </a:r>
            <a:r>
              <a:rPr sz="1500" b="0">
                <a:solidFill>
                  <a:srgbClr val="111111"/>
                </a:solidFill>
                <a:latin typeface="Inter"/>
              </a:rPr>
              <a:t>said </a:t>
            </a:r>
            <a:r>
              <a:rPr sz="1500" b="0">
                <a:solidFill>
                  <a:srgbClr val="111111"/>
                </a:solidFill>
                <a:latin typeface="Inter"/>
              </a:rPr>
              <a:t>a </a:t>
            </a:r>
            <a:r>
              <a:rPr sz="1500" b="1">
                <a:solidFill>
                  <a:srgbClr val="111111"/>
                </a:solidFill>
                <a:latin typeface="Inter"/>
              </a:rPr>
              <a:t>bigger</a:t>
            </a:r>
            <a:r>
              <a:rPr sz="1500" b="0">
                <a:solidFill>
                  <a:srgbClr val="111111"/>
                </a:solidFill>
                <a:latin typeface="Inter"/>
              </a:rPr>
              <a:t> </a:t>
            </a:r>
            <a:r>
              <a:rPr sz="1500" b="0">
                <a:solidFill>
                  <a:srgbClr val="111111"/>
                </a:solidFill>
                <a:latin typeface="Inter"/>
              </a:rPr>
              <a:t>group 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11111"/>
                </a:solidFill>
                <a:latin typeface="Inter"/>
              </a:rPr>
              <a:t>made </a:t>
            </a:r>
            <a:r>
              <a:rPr sz="1500" b="0">
                <a:solidFill>
                  <a:srgbClr val="111111"/>
                </a:solidFill>
                <a:latin typeface="Inter"/>
              </a:rPr>
              <a:t>planning </a:t>
            </a:r>
            <a:r>
              <a:rPr sz="1500" b="0">
                <a:solidFill>
                  <a:srgbClr val="111111"/>
                </a:solidFill>
                <a:latin typeface="Inter"/>
              </a:rPr>
              <a:t>easier. </a:t>
            </a:r>
            <a:r>
              <a:rPr sz="1500" b="0">
                <a:solidFill>
                  <a:srgbClr val="111111"/>
                </a:solidFill>
                <a:latin typeface="Inter"/>
              </a:rPr>
              <a:t>84% 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11111"/>
                </a:solidFill>
                <a:latin typeface="Inter"/>
              </a:rPr>
              <a:t>said </a:t>
            </a:r>
            <a:r>
              <a:rPr sz="1500" b="0">
                <a:solidFill>
                  <a:srgbClr val="111111"/>
                </a:solidFill>
                <a:latin typeface="Inter"/>
              </a:rPr>
              <a:t>smaller </a:t>
            </a:r>
            <a:r>
              <a:rPr sz="1500" b="0">
                <a:solidFill>
                  <a:srgbClr val="111111"/>
                </a:solidFill>
                <a:latin typeface="Inter"/>
              </a:rPr>
              <a:t>is </a:t>
            </a:r>
            <a:r>
              <a:rPr sz="1500" b="0">
                <a:solidFill>
                  <a:srgbClr val="111111"/>
                </a:solidFill>
                <a:latin typeface="Inter"/>
              </a:rPr>
              <a:t>easier.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CEFE8"/>
              </a:gs>
              <a:gs pos="100000">
                <a:srgbClr val="ECEAFF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8500" y="533400"/>
            <a:ext cx="2940050" cy="5715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spc="-125">
                <a:solidFill>
                  <a:srgbClr val="111111"/>
                </a:solidFill>
                <a:latin typeface="Archivo"/>
              </a:rPr>
              <a:t>Then </a:t>
            </a:r>
            <a:r>
              <a:rPr sz="3600" b="1" spc="-125">
                <a:solidFill>
                  <a:srgbClr val="111111"/>
                </a:solidFill>
                <a:latin typeface="Archivo"/>
              </a:rPr>
              <a:t>a </a:t>
            </a:r>
            <a:r>
              <a:rPr sz="3600" b="1" spc="-125">
                <a:solidFill>
                  <a:srgbClr val="111111"/>
                </a:solidFill>
                <a:latin typeface="Archivo"/>
              </a:rPr>
              <a:t>blind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49650" y="553212"/>
            <a:ext cx="2042914" cy="484632"/>
          </a:xfrm>
          <a:prstGeom prst="roundRect">
            <a:avLst>
              <a:gd name="adj" fmla="val 10482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511550" y="515112"/>
            <a:ext cx="2042914" cy="484632"/>
          </a:xfrm>
          <a:prstGeom prst="roundRect">
            <a:avLst>
              <a:gd name="adj" fmla="val 10482"/>
            </a:avLst>
          </a:prstGeom>
          <a:solidFill>
            <a:srgbClr val="FF5CA8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11550" y="515112"/>
            <a:ext cx="2042914" cy="48463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spc="-125">
                <a:solidFill>
                  <a:srgbClr val="FFFFFF"/>
                </a:solidFill>
                <a:latin typeface="Archivo"/>
              </a:rPr>
              <a:t>moment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90695" y="812800"/>
            <a:ext cx="1802804" cy="24130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0695" y="812800"/>
            <a:ext cx="1802804" cy="24130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111"/>
                </a:solidFill>
                <a:latin typeface="Space Mono"/>
              </a:rPr>
              <a:t>Walkthrough </a:t>
            </a:r>
            <a:r>
              <a:rPr sz="1100" b="1">
                <a:solidFill>
                  <a:srgbClr val="111111"/>
                </a:solidFill>
                <a:latin typeface="Space Mono"/>
              </a:rPr>
              <a:t>· </a:t>
            </a:r>
            <a:r>
              <a:rPr sz="1100" b="1">
                <a:solidFill>
                  <a:srgbClr val="111111"/>
                </a:solidFill>
                <a:latin typeface="Space Mono"/>
              </a:rPr>
              <a:t>3 </a:t>
            </a:r>
            <a:r>
              <a:rPr sz="1100" b="1">
                <a:solidFill>
                  <a:srgbClr val="111111"/>
                </a:solidFill>
                <a:latin typeface="Space Mono"/>
              </a:rPr>
              <a:t>/ </a:t>
            </a:r>
            <a:r>
              <a:rPr sz="1100" b="1">
                <a:solidFill>
                  <a:srgbClr val="111111"/>
                </a:solidFill>
                <a:latin typeface="Space Mono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4700" y="1377950"/>
            <a:ext cx="2540000" cy="4978400"/>
          </a:xfrm>
          <a:prstGeom prst="roundRect">
            <a:avLst>
              <a:gd name="adj" fmla="val 11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98500" y="1301750"/>
            <a:ext cx="2540000" cy="4978400"/>
          </a:xfrm>
          <a:prstGeom prst="roundRect">
            <a:avLst>
              <a:gd name="adj" fmla="val 11000"/>
            </a:avLst>
          </a:prstGeom>
          <a:solidFill>
            <a:srgbClr val="15171C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8350" y="1371600"/>
            <a:ext cx="2400300" cy="4838700"/>
          </a:xfrm>
          <a:prstGeom prst="roundRect">
            <a:avLst>
              <a:gd name="adj" fmla="val 8730"/>
            </a:avLst>
          </a:prstGeom>
          <a:solidFill>
            <a:srgbClr val="EC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9950" y="1447800"/>
            <a:ext cx="2197100" cy="1397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111111"/>
                </a:solidFill>
                <a:latin typeface="Inter"/>
              </a:rPr>
              <a:t>9:41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9950" y="1447800"/>
            <a:ext cx="2197100" cy="1397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7D7A86"/>
                </a:solidFill>
                <a:latin typeface="Inter"/>
              </a:rPr>
              <a:t>●●●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650" y="1663700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9950" y="1651000"/>
            <a:ext cx="190500" cy="1905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9950" y="1651000"/>
            <a:ext cx="190500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11111"/>
                </a:solidFill>
                <a:latin typeface="Archivo"/>
              </a:rPr>
              <a:t>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3950" y="1651000"/>
            <a:ext cx="1943100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11111"/>
                </a:solidFill>
                <a:latin typeface="Archivo"/>
              </a:rPr>
              <a:t>The </a:t>
            </a:r>
            <a:r>
              <a:rPr sz="900" b="1">
                <a:solidFill>
                  <a:srgbClr val="111111"/>
                </a:solidFill>
                <a:latin typeface="Archivo"/>
              </a:rPr>
              <a:t>Boys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5350" y="1955800"/>
            <a:ext cx="2197100" cy="609600"/>
          </a:xfrm>
          <a:prstGeom prst="roundRect">
            <a:avLst>
              <a:gd name="adj" fmla="val 16666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9950" y="1930400"/>
            <a:ext cx="2197100" cy="6096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58850" y="2019300"/>
            <a:ext cx="568821" cy="165100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952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8850" y="2019300"/>
            <a:ext cx="568821" cy="1651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111111"/>
                </a:solidFill>
                <a:latin typeface="Space Mono"/>
              </a:rPr>
              <a:t>FRI </a:t>
            </a:r>
            <a:r>
              <a:rPr sz="650" b="1">
                <a:solidFill>
                  <a:srgbClr val="111111"/>
                </a:solidFill>
                <a:latin typeface="Space Mono"/>
              </a:rPr>
              <a:t>16:00</a:t>
            </a:r>
          </a:p>
        </p:txBody>
      </p:sp>
      <p:sp>
        <p:nvSpPr>
          <p:cNvPr id="22" name="Rounded Rectangle 21"/>
          <p:cNvSpPr/>
          <p:nvPr/>
        </p:nvSpPr>
        <p:spPr>
          <a:xfrm rot="21360000">
            <a:off x="2511226" y="2019300"/>
            <a:ext cx="479623" cy="177800"/>
          </a:xfrm>
          <a:prstGeom prst="roundRect">
            <a:avLst>
              <a:gd name="adj" fmla="val 28571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 rot="21360000">
            <a:off x="2498526" y="2006600"/>
            <a:ext cx="479623" cy="177800"/>
          </a:xfrm>
          <a:prstGeom prst="roundRect">
            <a:avLst>
              <a:gd name="adj" fmla="val 28571"/>
            </a:avLst>
          </a:prstGeom>
          <a:solidFill>
            <a:srgbClr val="FF5CA8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98526" y="2006600"/>
            <a:ext cx="479623" cy="177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FFFFFF"/>
                </a:solidFill>
                <a:latin typeface="Archivo"/>
              </a:rPr>
              <a:t>RSVP </a:t>
            </a:r>
            <a:r>
              <a:rPr sz="650" b="1">
                <a:solidFill>
                  <a:srgbClr val="FFFFFF"/>
                </a:solidFill>
                <a:latin typeface="Archivo"/>
              </a:rPr>
              <a:t>8H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8850" y="2222500"/>
            <a:ext cx="20193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Archivo"/>
              </a:rPr>
              <a:t>Bowling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8850" y="2438400"/>
            <a:ext cx="2019300" cy="1143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7D7A86"/>
                </a:solidFill>
                <a:latin typeface="Inter"/>
              </a:rPr>
              <a:t>TenPin </a:t>
            </a:r>
            <a:r>
              <a:rPr sz="700" b="0">
                <a:solidFill>
                  <a:srgbClr val="7D7A86"/>
                </a:solidFill>
                <a:latin typeface="Inter"/>
              </a:rPr>
              <a:t>Bexleyheath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650" y="2654300"/>
            <a:ext cx="21971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11111"/>
                </a:solidFill>
                <a:latin typeface="Archivo"/>
              </a:rPr>
              <a:t>Are </a:t>
            </a:r>
            <a:r>
              <a:rPr sz="1000" b="1">
                <a:solidFill>
                  <a:srgbClr val="111111"/>
                </a:solidFill>
                <a:latin typeface="Archivo"/>
              </a:rPr>
              <a:t>you </a:t>
            </a:r>
            <a:r>
              <a:rPr sz="1000" b="1">
                <a:solidFill>
                  <a:srgbClr val="111111"/>
                </a:solidFill>
                <a:latin typeface="Archivo"/>
              </a:rPr>
              <a:t>in?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5350" y="2895600"/>
            <a:ext cx="2197100" cy="317500"/>
          </a:xfrm>
          <a:prstGeom prst="roundRect">
            <a:avLst>
              <a:gd name="adj" fmla="val 26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69950" y="2870200"/>
            <a:ext cx="2197100" cy="317500"/>
          </a:xfrm>
          <a:prstGeom prst="roundRect">
            <a:avLst>
              <a:gd name="adj" fmla="val 26000"/>
            </a:avLst>
          </a:prstGeom>
          <a:solidFill>
            <a:srgbClr val="34A853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9950" y="2870200"/>
            <a:ext cx="2197100" cy="317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chivo"/>
              </a:rPr>
              <a:t>✓ </a:t>
            </a:r>
            <a:r>
              <a:rPr sz="900" b="1">
                <a:solidFill>
                  <a:srgbClr val="FFFFFF"/>
                </a:solidFill>
                <a:latin typeface="Archivo"/>
              </a:rPr>
              <a:t> </a:t>
            </a:r>
            <a:r>
              <a:rPr sz="900" b="1">
                <a:solidFill>
                  <a:srgbClr val="FFFFFF"/>
                </a:solidFill>
                <a:latin typeface="Archivo"/>
              </a:rPr>
              <a:t>I’m </a:t>
            </a:r>
            <a:r>
              <a:rPr sz="900" b="1">
                <a:solidFill>
                  <a:srgbClr val="FFFFFF"/>
                </a:solidFill>
                <a:latin typeface="Archivo"/>
              </a:rPr>
              <a:t>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5350" y="3282950"/>
            <a:ext cx="2197100" cy="317500"/>
          </a:xfrm>
          <a:prstGeom prst="roundRect">
            <a:avLst>
              <a:gd name="adj" fmla="val 26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69950" y="3257550"/>
            <a:ext cx="2197100" cy="31750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9950" y="3257550"/>
            <a:ext cx="2197100" cy="317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11111"/>
                </a:solidFill>
                <a:latin typeface="Archivo"/>
              </a:rPr>
              <a:t>I’ll </a:t>
            </a:r>
            <a:r>
              <a:rPr sz="900" b="1">
                <a:solidFill>
                  <a:srgbClr val="111111"/>
                </a:solidFill>
                <a:latin typeface="Archivo"/>
              </a:rPr>
              <a:t>go </a:t>
            </a:r>
            <a:r>
              <a:rPr sz="900" b="1">
                <a:solidFill>
                  <a:srgbClr val="111111"/>
                </a:solidFill>
                <a:latin typeface="Archivo"/>
              </a:rPr>
              <a:t>if…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5350" y="3670300"/>
            <a:ext cx="2197100" cy="317500"/>
          </a:xfrm>
          <a:prstGeom prst="roundRect">
            <a:avLst>
              <a:gd name="adj" fmla="val 26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69950" y="3644900"/>
            <a:ext cx="2197100" cy="31750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9950" y="3644900"/>
            <a:ext cx="2197100" cy="317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D7A86"/>
                </a:solidFill>
                <a:latin typeface="Archivo"/>
              </a:rPr>
              <a:t>Can’t </a:t>
            </a:r>
            <a:r>
              <a:rPr sz="900" b="1">
                <a:solidFill>
                  <a:srgbClr val="7D7A86"/>
                </a:solidFill>
                <a:latin typeface="Archivo"/>
              </a:rPr>
              <a:t>make </a:t>
            </a:r>
            <a:r>
              <a:rPr sz="900" b="1">
                <a:solidFill>
                  <a:srgbClr val="7D7A86"/>
                </a:solidFill>
                <a:latin typeface="Archivo"/>
              </a:rPr>
              <a:t>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9950" y="5943600"/>
            <a:ext cx="2197100" cy="1397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7D7A86"/>
                </a:solidFill>
                <a:latin typeface="Inter"/>
              </a:rPr>
              <a:t>No </a:t>
            </a:r>
            <a:r>
              <a:rPr sz="700" b="0">
                <a:solidFill>
                  <a:srgbClr val="7D7A86"/>
                </a:solidFill>
                <a:latin typeface="Inter"/>
              </a:rPr>
              <a:t>tally. </a:t>
            </a:r>
            <a:r>
              <a:rPr sz="700" b="0">
                <a:solidFill>
                  <a:srgbClr val="7D7A86"/>
                </a:solidFill>
                <a:latin typeface="Inter"/>
              </a:rPr>
              <a:t>No </a:t>
            </a:r>
            <a:r>
              <a:rPr sz="700" b="0">
                <a:solidFill>
                  <a:srgbClr val="7D7A86"/>
                </a:solidFill>
                <a:latin typeface="Inter"/>
              </a:rPr>
              <a:t>who’s </a:t>
            </a:r>
            <a:r>
              <a:rPr sz="700" b="0">
                <a:solidFill>
                  <a:srgbClr val="7D7A86"/>
                </a:solidFill>
                <a:latin typeface="Inter"/>
              </a:rPr>
              <a:t>in. </a:t>
            </a:r>
            <a:r>
              <a:rPr sz="700" b="0">
                <a:solidFill>
                  <a:srgbClr val="7D7A86"/>
                </a:solidFill>
                <a:latin typeface="Inter"/>
              </a:rPr>
              <a:t>Not </a:t>
            </a:r>
            <a:r>
              <a:rPr sz="700" b="0">
                <a:solidFill>
                  <a:srgbClr val="7D7A86"/>
                </a:solidFill>
                <a:latin typeface="Inter"/>
              </a:rPr>
              <a:t>until </a:t>
            </a:r>
            <a:r>
              <a:rPr sz="700" b="0">
                <a:solidFill>
                  <a:srgbClr val="7D7A86"/>
                </a:solidFill>
                <a:latin typeface="Inter"/>
              </a:rPr>
              <a:t>it </a:t>
            </a:r>
            <a:r>
              <a:rPr sz="700" b="0">
                <a:solidFill>
                  <a:srgbClr val="7D7A86"/>
                </a:solidFill>
                <a:latin typeface="Inter"/>
              </a:rPr>
              <a:t>locks.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83000" y="1587500"/>
            <a:ext cx="5207000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11111"/>
                </a:solidFill>
                <a:latin typeface="Archivo"/>
              </a:rPr>
              <a:t>The </a:t>
            </a:r>
            <a:r>
              <a:rPr sz="2300" b="1">
                <a:solidFill>
                  <a:srgbClr val="111111"/>
                </a:solidFill>
                <a:latin typeface="Archivo"/>
              </a:rPr>
              <a:t>deadline </a:t>
            </a:r>
            <a:r>
              <a:rPr sz="2300" b="1">
                <a:solidFill>
                  <a:srgbClr val="111111"/>
                </a:solidFill>
                <a:latin typeface="Archivo"/>
              </a:rPr>
              <a:t>auto-picks </a:t>
            </a:r>
            <a:r>
              <a:rPr sz="2300" b="1">
                <a:solidFill>
                  <a:srgbClr val="111111"/>
                </a:solidFill>
                <a:latin typeface="Archivo"/>
              </a:rPr>
              <a:t>the </a:t>
            </a:r>
            <a:r>
              <a:rPr sz="2300" b="1">
                <a:solidFill>
                  <a:srgbClr val="111111"/>
                </a:solidFill>
                <a:latin typeface="Archivo"/>
              </a:rPr>
              <a:t>winner. 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11111"/>
                </a:solidFill>
                <a:latin typeface="Archivo"/>
              </a:rPr>
              <a:t>Then </a:t>
            </a:r>
            <a:r>
              <a:rPr sz="2300" b="1">
                <a:solidFill>
                  <a:srgbClr val="111111"/>
                </a:solidFill>
                <a:latin typeface="Archivo"/>
              </a:rPr>
              <a:t>you </a:t>
            </a:r>
            <a:r>
              <a:rPr sz="2300" b="1">
                <a:solidFill>
                  <a:srgbClr val="111111"/>
                </a:solidFill>
                <a:latin typeface="Archivo"/>
              </a:rPr>
              <a:t>reply </a:t>
            </a:r>
            <a:r>
              <a:rPr sz="2300" b="1">
                <a:solidFill>
                  <a:srgbClr val="34A853"/>
                </a:solidFill>
                <a:latin typeface="Archivo"/>
              </a:rPr>
              <a:t>privately</a:t>
            </a:r>
            <a:r>
              <a:rPr sz="2300" b="1">
                <a:solidFill>
                  <a:srgbClr val="111111"/>
                </a:solidFill>
                <a:latin typeface="Archivo"/>
              </a:rPr>
              <a:t>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83000" y="2413000"/>
            <a:ext cx="5207000" cy="635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7D7A86"/>
                </a:solidFill>
                <a:latin typeface="Inter"/>
              </a:rPr>
              <a:t>No </a:t>
            </a:r>
            <a:r>
              <a:rPr sz="1600" b="0">
                <a:solidFill>
                  <a:srgbClr val="7D7A86"/>
                </a:solidFill>
                <a:latin typeface="Inter"/>
              </a:rPr>
              <a:t>live </a:t>
            </a:r>
            <a:r>
              <a:rPr sz="1600" b="0">
                <a:solidFill>
                  <a:srgbClr val="7D7A86"/>
                </a:solidFill>
                <a:latin typeface="Inter"/>
              </a:rPr>
              <a:t>tally, </a:t>
            </a:r>
            <a:r>
              <a:rPr sz="1600" b="0">
                <a:solidFill>
                  <a:srgbClr val="7D7A86"/>
                </a:solidFill>
                <a:latin typeface="Inter"/>
              </a:rPr>
              <a:t>no </a:t>
            </a:r>
            <a:r>
              <a:rPr sz="1600" b="0">
                <a:solidFill>
                  <a:srgbClr val="7D7A86"/>
                </a:solidFill>
                <a:latin typeface="Inter"/>
              </a:rPr>
              <a:t>who-is-in. </a:t>
            </a:r>
            <a:r>
              <a:rPr sz="1600" b="0">
                <a:solidFill>
                  <a:srgbClr val="7D7A86"/>
                </a:solidFill>
                <a:latin typeface="Inter"/>
              </a:rPr>
              <a:t>There </a:t>
            </a:r>
            <a:r>
              <a:rPr sz="1600" b="0">
                <a:solidFill>
                  <a:srgbClr val="7D7A86"/>
                </a:solidFill>
                <a:latin typeface="Inter"/>
              </a:rPr>
              <a:t>is </a:t>
            </a:r>
            <a:r>
              <a:rPr sz="1600" b="0">
                <a:solidFill>
                  <a:srgbClr val="7D7A86"/>
                </a:solidFill>
                <a:latin typeface="Inter"/>
              </a:rPr>
              <a:t>nothing </a:t>
            </a:r>
            <a:r>
              <a:rPr sz="1600" b="0">
                <a:solidFill>
                  <a:srgbClr val="7D7A86"/>
                </a:solidFill>
                <a:latin typeface="Inter"/>
              </a:rPr>
              <a:t>to </a:t>
            </a:r>
            <a:r>
              <a:rPr sz="1600" b="0">
                <a:solidFill>
                  <a:srgbClr val="7D7A86"/>
                </a:solidFill>
                <a:latin typeface="Inter"/>
              </a:rPr>
              <a:t>hedge 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7D7A86"/>
                </a:solidFill>
                <a:latin typeface="Inter"/>
              </a:rPr>
              <a:t>against, </a:t>
            </a:r>
            <a:r>
              <a:rPr sz="1600" b="0">
                <a:solidFill>
                  <a:srgbClr val="7D7A86"/>
                </a:solidFill>
                <a:latin typeface="Inter"/>
              </a:rPr>
              <a:t>so </a:t>
            </a:r>
            <a:r>
              <a:rPr sz="1600" b="0">
                <a:solidFill>
                  <a:srgbClr val="7D7A86"/>
                </a:solidFill>
                <a:latin typeface="Inter"/>
              </a:rPr>
              <a:t>people </a:t>
            </a:r>
            <a:r>
              <a:rPr sz="1600" b="0">
                <a:solidFill>
                  <a:srgbClr val="7D7A86"/>
                </a:solidFill>
                <a:latin typeface="Inter"/>
              </a:rPr>
              <a:t>just </a:t>
            </a:r>
            <a:r>
              <a:rPr sz="1600" b="0">
                <a:solidFill>
                  <a:srgbClr val="7D7A86"/>
                </a:solidFill>
                <a:latin typeface="Inter"/>
              </a:rPr>
              <a:t>answer.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721100" y="3213100"/>
            <a:ext cx="5207000" cy="584200"/>
          </a:xfrm>
          <a:prstGeom prst="roundRect">
            <a:avLst>
              <a:gd name="adj" fmla="val 15217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683000" y="3175000"/>
            <a:ext cx="5207000" cy="584200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48100" y="3175000"/>
            <a:ext cx="1270000" cy="584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11111"/>
                </a:solidFill>
                <a:latin typeface="Archivo"/>
              </a:rPr>
              <a:t>“I’ll </a:t>
            </a:r>
            <a:r>
              <a:rPr sz="1200" b="1">
                <a:solidFill>
                  <a:srgbClr val="111111"/>
                </a:solidFill>
                <a:latin typeface="Archivo"/>
              </a:rPr>
              <a:t>go </a:t>
            </a:r>
            <a:r>
              <a:rPr sz="1200" b="1">
                <a:solidFill>
                  <a:srgbClr val="111111"/>
                </a:solidFill>
                <a:latin typeface="Archivo"/>
              </a:rPr>
              <a:t>if…”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43500" y="3175000"/>
            <a:ext cx="3581400" cy="584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D7A86"/>
                </a:solidFill>
                <a:latin typeface="Inter"/>
              </a:rPr>
              <a:t>the </a:t>
            </a:r>
            <a:r>
              <a:rPr sz="1200" b="0">
                <a:solidFill>
                  <a:srgbClr val="7D7A86"/>
                </a:solidFill>
                <a:latin typeface="Inter"/>
              </a:rPr>
              <a:t>conditional </a:t>
            </a:r>
            <a:r>
              <a:rPr sz="1200" b="0">
                <a:solidFill>
                  <a:srgbClr val="7D7A86"/>
                </a:solidFill>
                <a:latin typeface="Inter"/>
              </a:rPr>
              <a:t>RSVP </a:t>
            </a:r>
            <a:r>
              <a:rPr sz="1200" b="0">
                <a:solidFill>
                  <a:srgbClr val="7D7A86"/>
                </a:solidFill>
                <a:latin typeface="Inter"/>
              </a:rPr>
              <a:t>- </a:t>
            </a:r>
            <a:r>
              <a:rPr sz="1200" b="0">
                <a:solidFill>
                  <a:srgbClr val="7D7A86"/>
                </a:solidFill>
                <a:latin typeface="Inter"/>
              </a:rPr>
              <a:t>defaults </a:t>
            </a:r>
            <a:r>
              <a:rPr sz="1200" b="0">
                <a:solidFill>
                  <a:srgbClr val="7D7A86"/>
                </a:solidFill>
                <a:latin typeface="Inter"/>
              </a:rPr>
              <a:t>to </a:t>
            </a:r>
            <a:r>
              <a:rPr sz="1200" b="0">
                <a:solidFill>
                  <a:srgbClr val="7D7A86"/>
                </a:solidFill>
                <a:latin typeface="Inter"/>
              </a:rPr>
              <a:t>“at </a:t>
            </a:r>
            <a:r>
              <a:rPr sz="1200" b="0">
                <a:solidFill>
                  <a:srgbClr val="7D7A86"/>
                </a:solidFill>
                <a:latin typeface="Inter"/>
              </a:rPr>
              <a:t>least </a:t>
            </a:r>
            <a:r>
              <a:rPr sz="1200" b="0">
                <a:solidFill>
                  <a:srgbClr val="7D7A86"/>
                </a:solidFill>
                <a:latin typeface="Inter"/>
              </a:rPr>
              <a:t>one” 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7D7A86"/>
                </a:solidFill>
                <a:latin typeface="Inter"/>
              </a:rPr>
              <a:t>friend, </a:t>
            </a:r>
            <a:r>
              <a:rPr sz="1200" b="0">
                <a:solidFill>
                  <a:srgbClr val="7D7A86"/>
                </a:solidFill>
                <a:latin typeface="Inter"/>
              </a:rPr>
              <a:t>never </a:t>
            </a:r>
            <a:r>
              <a:rPr sz="1200" b="0">
                <a:solidFill>
                  <a:srgbClr val="7D7A86"/>
                </a:solidFill>
                <a:latin typeface="Inter"/>
              </a:rPr>
              <a:t>forces </a:t>
            </a:r>
            <a:r>
              <a:rPr sz="1200" b="0">
                <a:solidFill>
                  <a:srgbClr val="7D7A86"/>
                </a:solidFill>
                <a:latin typeface="Inter"/>
              </a:rPr>
              <a:t>a </a:t>
            </a:r>
            <a:r>
              <a:rPr sz="1200" b="0">
                <a:solidFill>
                  <a:srgbClr val="7D7A86"/>
                </a:solidFill>
                <a:latin typeface="Inter"/>
              </a:rPr>
              <a:t>name.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721100" y="3911600"/>
            <a:ext cx="5207000" cy="609600"/>
          </a:xfrm>
          <a:prstGeom prst="roundRect">
            <a:avLst>
              <a:gd name="adj" fmla="val 14583"/>
            </a:avLst>
          </a:prstGeom>
          <a:solidFill>
            <a:srgbClr val="FF5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683000" y="3873500"/>
            <a:ext cx="5207000" cy="609600"/>
          </a:xfrm>
          <a:prstGeom prst="roundRect">
            <a:avLst>
              <a:gd name="adj" fmla="val 14583"/>
            </a:avLst>
          </a:prstGeom>
          <a:solidFill>
            <a:srgbClr val="111111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848100" y="3873500"/>
            <a:ext cx="889000" cy="609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spc="50">
                <a:solidFill>
                  <a:srgbClr val="FF5CA8"/>
                </a:solidFill>
                <a:latin typeface="Inter"/>
              </a:rPr>
              <a:t>INSIGHT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62500" y="3873500"/>
            <a:ext cx="3962400" cy="609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Inter"/>
              </a:rPr>
              <a:t>“A </a:t>
            </a:r>
            <a:r>
              <a:rPr sz="1200" b="0">
                <a:solidFill>
                  <a:srgbClr val="FFFFFF"/>
                </a:solidFill>
                <a:latin typeface="Inter"/>
              </a:rPr>
              <a:t>deadline </a:t>
            </a:r>
            <a:r>
              <a:rPr sz="1200" b="0">
                <a:solidFill>
                  <a:srgbClr val="FFFFFF"/>
                </a:solidFill>
                <a:latin typeface="Inter"/>
              </a:rPr>
              <a:t>with </a:t>
            </a:r>
            <a:r>
              <a:rPr sz="1200" b="0">
                <a:solidFill>
                  <a:srgbClr val="FFFFFF"/>
                </a:solidFill>
                <a:latin typeface="Inter"/>
              </a:rPr>
              <a:t>a </a:t>
            </a:r>
            <a:r>
              <a:rPr sz="1200" b="0">
                <a:solidFill>
                  <a:srgbClr val="FFFFFF"/>
                </a:solidFill>
                <a:latin typeface="Inter"/>
              </a:rPr>
              <a:t>push </a:t>
            </a:r>
            <a:r>
              <a:rPr sz="1200" b="0">
                <a:solidFill>
                  <a:srgbClr val="FFFFFF"/>
                </a:solidFill>
                <a:latin typeface="Inter"/>
              </a:rPr>
              <a:t>- </a:t>
            </a:r>
            <a:r>
              <a:rPr sz="1200" b="0">
                <a:solidFill>
                  <a:srgbClr val="FFFFFF"/>
                </a:solidFill>
                <a:latin typeface="Inter"/>
              </a:rPr>
              <a:t>like </a:t>
            </a:r>
            <a:r>
              <a:rPr sz="1200" b="0">
                <a:solidFill>
                  <a:srgbClr val="FFFFFF"/>
                </a:solidFill>
                <a:latin typeface="Inter"/>
              </a:rPr>
              <a:t>BeReal, </a:t>
            </a:r>
            <a:r>
              <a:rPr sz="1200" b="0">
                <a:solidFill>
                  <a:srgbClr val="FFFFFF"/>
                </a:solidFill>
                <a:latin typeface="Inter"/>
              </a:rPr>
              <a:t>it </a:t>
            </a:r>
            <a:r>
              <a:rPr sz="1200" b="0">
                <a:solidFill>
                  <a:srgbClr val="FFFFFF"/>
                </a:solidFill>
                <a:latin typeface="Inter"/>
              </a:rPr>
              <a:t>goes </a:t>
            </a:r>
            <a:r>
              <a:rPr sz="1200" b="0">
                <a:solidFill>
                  <a:srgbClr val="FFFFFF"/>
                </a:solidFill>
                <a:latin typeface="Inter"/>
              </a:rPr>
              <a:t>ding 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Inter"/>
              </a:rPr>
              <a:t>ding </a:t>
            </a:r>
            <a:r>
              <a:rPr sz="1200" b="0">
                <a:solidFill>
                  <a:srgbClr val="FFFFFF"/>
                </a:solidFill>
                <a:latin typeface="Inter"/>
              </a:rPr>
              <a:t>ding.” </a:t>
            </a:r>
            <a:r>
              <a:rPr sz="1200" b="0">
                <a:solidFill>
                  <a:srgbClr val="FFFFFF"/>
                </a:solidFill>
                <a:latin typeface="Inter"/>
              </a:rPr>
              <a:t>- </a:t>
            </a:r>
            <a:r>
              <a:rPr sz="1200" b="0">
                <a:solidFill>
                  <a:srgbClr val="FFFFFF"/>
                </a:solidFill>
                <a:latin typeface="Inter"/>
              </a:rPr>
              <a:t>Tom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D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469900"/>
            <a:ext cx="2422723" cy="5715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spc="-150">
                <a:solidFill>
                  <a:srgbClr val="111111"/>
                </a:solidFill>
                <a:latin typeface="Archivo"/>
              </a:rPr>
              <a:t>Under </a:t>
            </a:r>
            <a:r>
              <a:rPr sz="3600" b="1" spc="-150">
                <a:solidFill>
                  <a:srgbClr val="111111"/>
                </a:solidFill>
                <a:latin typeface="Archivo"/>
              </a:rPr>
              <a:t>the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05323" y="489712"/>
            <a:ext cx="1329035" cy="484632"/>
          </a:xfrm>
          <a:prstGeom prst="roundRect">
            <a:avLst>
              <a:gd name="adj" fmla="val 10482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867223" y="451612"/>
            <a:ext cx="1329035" cy="484632"/>
          </a:xfrm>
          <a:prstGeom prst="roundRect">
            <a:avLst>
              <a:gd name="adj" fmla="val 10482"/>
            </a:avLst>
          </a:prstGeom>
          <a:solidFill>
            <a:srgbClr val="FF5CA8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67223" y="451612"/>
            <a:ext cx="1329035" cy="48463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spc="-150">
                <a:solidFill>
                  <a:srgbClr val="FFFFFF"/>
                </a:solidFill>
                <a:latin typeface="Archivo"/>
              </a:rPr>
              <a:t>hood</a:t>
            </a:r>
          </a:p>
        </p:txBody>
      </p:sp>
      <p:sp>
        <p:nvSpPr>
          <p:cNvPr id="7" name="Rectangle 6"/>
          <p:cNvSpPr/>
          <p:nvPr/>
        </p:nvSpPr>
        <p:spPr>
          <a:xfrm>
            <a:off x="7874000" y="609600"/>
            <a:ext cx="292100" cy="4445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42300" y="533400"/>
            <a:ext cx="1397000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11111"/>
                </a:solidFill>
                <a:latin typeface="Inter"/>
              </a:rPr>
              <a:t>data </a:t>
            </a:r>
            <a:r>
              <a:rPr sz="1050" b="0">
                <a:solidFill>
                  <a:srgbClr val="111111"/>
                </a:solidFill>
                <a:latin typeface="Inter"/>
              </a:rPr>
              <a:t>&amp; </a:t>
            </a:r>
            <a:r>
              <a:rPr sz="1050" b="0">
                <a:solidFill>
                  <a:srgbClr val="111111"/>
                </a:solidFill>
                <a:latin typeface="Inter"/>
              </a:rPr>
              <a:t>requests</a:t>
            </a:r>
          </a:p>
        </p:txBody>
      </p:sp>
      <p:sp>
        <p:nvSpPr>
          <p:cNvPr id="9" name="Rectangle 8"/>
          <p:cNvSpPr/>
          <p:nvPr/>
        </p:nvSpPr>
        <p:spPr>
          <a:xfrm>
            <a:off x="9969500" y="628650"/>
            <a:ext cx="292100" cy="0"/>
          </a:xfrm>
          <a:prstGeom prst="rect">
            <a:avLst/>
          </a:prstGeom>
          <a:noFill/>
          <a:ln w="25400">
            <a:solidFill>
              <a:srgbClr val="7E6BB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7800" y="533400"/>
            <a:ext cx="1524000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E6BB0"/>
                </a:solidFill>
                <a:latin typeface="Inter"/>
              </a:rPr>
              <a:t>shared </a:t>
            </a:r>
            <a:r>
              <a:rPr sz="1050" b="0">
                <a:solidFill>
                  <a:srgbClr val="7E6BB0"/>
                </a:solidFill>
                <a:latin typeface="Inter"/>
              </a:rPr>
              <a:t>types </a:t>
            </a:r>
            <a:r>
              <a:rPr sz="1050" b="0">
                <a:solidFill>
                  <a:srgbClr val="7E6BB0"/>
                </a:solidFill>
                <a:latin typeface="Inter"/>
              </a:rPr>
              <a:t>&amp; </a:t>
            </a:r>
            <a:r>
              <a:rPr sz="1050" b="0">
                <a:solidFill>
                  <a:srgbClr val="7E6BB0"/>
                </a:solidFill>
                <a:latin typeface="Inter"/>
              </a:rPr>
              <a:t>logic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950" y="1314450"/>
            <a:ext cx="2997200" cy="2984500"/>
          </a:xfrm>
          <a:prstGeom prst="roundRect">
            <a:avLst>
              <a:gd name="adj" fmla="val 3404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71500" y="1270000"/>
            <a:ext cx="2997200" cy="298450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71500" y="1270000"/>
            <a:ext cx="2997200" cy="292100"/>
          </a:xfrm>
          <a:prstGeom prst="roundRect">
            <a:avLst>
              <a:gd name="adj" fmla="val 34782"/>
            </a:avLst>
          </a:prstGeom>
          <a:solidFill>
            <a:srgbClr val="7E6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" y="1460500"/>
            <a:ext cx="2997200" cy="101600"/>
          </a:xfrm>
          <a:prstGeom prst="rect">
            <a:avLst/>
          </a:prstGeom>
          <a:solidFill>
            <a:srgbClr val="7E6B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1270000"/>
            <a:ext cx="2768600" cy="2921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Archivo"/>
              </a:rPr>
              <a:t>Mobile </a:t>
            </a:r>
            <a:r>
              <a:rPr sz="1150" b="1">
                <a:solidFill>
                  <a:srgbClr val="FFFFFF"/>
                </a:solidFill>
                <a:latin typeface="Archivo"/>
              </a:rPr>
              <a:t> </a:t>
            </a:r>
            <a:r>
              <a:rPr sz="750" b="0">
                <a:solidFill>
                  <a:srgbClr val="E9E3F2"/>
                </a:solidFill>
                <a:latin typeface="Space Mono"/>
              </a:rPr>
              <a:t>@bethere/mobile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3100" y="1651000"/>
            <a:ext cx="2794000" cy="317500"/>
          </a:xfrm>
          <a:prstGeom prst="roundRect">
            <a:avLst>
              <a:gd name="adj" fmla="val 20000"/>
            </a:avLst>
          </a:prstGeom>
          <a:solidFill>
            <a:srgbClr val="F1EEF6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650" y="1651000"/>
            <a:ext cx="2628900" cy="317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11111"/>
                </a:solidFill>
                <a:latin typeface="Inter"/>
              </a:rPr>
              <a:t>Expo </a:t>
            </a:r>
            <a:r>
              <a:rPr sz="900" b="1">
                <a:solidFill>
                  <a:srgbClr val="111111"/>
                </a:solidFill>
                <a:latin typeface="Inter"/>
              </a:rPr>
              <a:t>RN </a:t>
            </a:r>
            <a:r>
              <a:rPr sz="900" b="1">
                <a:solidFill>
                  <a:srgbClr val="111111"/>
                </a:solidFill>
                <a:latin typeface="Inter"/>
              </a:rPr>
              <a:t>· </a:t>
            </a:r>
            <a:r>
              <a:rPr sz="900" b="1">
                <a:solidFill>
                  <a:srgbClr val="111111"/>
                </a:solidFill>
                <a:latin typeface="Inter"/>
              </a:rPr>
              <a:t>8 </a:t>
            </a:r>
            <a:r>
              <a:rPr sz="900" b="1">
                <a:solidFill>
                  <a:srgbClr val="111111"/>
                </a:solidFill>
                <a:latin typeface="Inter"/>
              </a:rPr>
              <a:t>screens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3100" y="2038350"/>
            <a:ext cx="2794000" cy="406400"/>
          </a:xfrm>
          <a:prstGeom prst="roundRect">
            <a:avLst>
              <a:gd name="adj" fmla="val 15625"/>
            </a:avLst>
          </a:prstGeom>
          <a:solidFill>
            <a:srgbClr val="F1EEF6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5650" y="2038350"/>
            <a:ext cx="2628900" cy="406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55555"/>
                </a:solidFill>
                <a:latin typeface="Inter"/>
              </a:rPr>
              <a:t>Dashboard </a:t>
            </a:r>
            <a:r>
              <a:rPr sz="800" b="0">
                <a:solidFill>
                  <a:srgbClr val="555555"/>
                </a:solidFill>
                <a:latin typeface="Inter"/>
              </a:rPr>
              <a:t>· </a:t>
            </a:r>
            <a:r>
              <a:rPr sz="800" b="0">
                <a:solidFill>
                  <a:srgbClr val="555555"/>
                </a:solidFill>
                <a:latin typeface="Inter"/>
              </a:rPr>
              <a:t>CreateWizard </a:t>
            </a:r>
            <a:r>
              <a:rPr sz="800" b="0">
                <a:solidFill>
                  <a:srgbClr val="555555"/>
                </a:solidFill>
                <a:latin typeface="Inter"/>
              </a:rPr>
              <a:t>· </a:t>
            </a:r>
            <a:r>
              <a:rPr sz="800" b="0">
                <a:solidFill>
                  <a:srgbClr val="555555"/>
                </a:solidFill>
                <a:latin typeface="Inter"/>
              </a:rPr>
              <a:t>EventDetail </a:t>
            </a:r>
            <a:r>
              <a:rPr sz="800" b="0">
                <a:solidFill>
                  <a:srgbClr val="555555"/>
                </a:solidFill>
                <a:latin typeface="Inter"/>
              </a:rPr>
              <a:t>· </a:t>
            </a:r>
            <a:r>
              <a:rPr sz="800" b="0">
                <a:solidFill>
                  <a:srgbClr val="555555"/>
                </a:solidFill>
                <a:latin typeface="Inter"/>
              </a:rPr>
              <a:t>Groups </a:t>
            </a:r>
            <a:r>
              <a:rPr sz="800" b="0">
                <a:solidFill>
                  <a:srgbClr val="555555"/>
                </a:solidFill>
                <a:latin typeface="Inter"/>
              </a:rPr>
              <a:t>· 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55555"/>
                </a:solidFill>
                <a:latin typeface="Inter"/>
              </a:rPr>
              <a:t>SignIn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3100" y="2514600"/>
            <a:ext cx="2794000" cy="317500"/>
          </a:xfrm>
          <a:prstGeom prst="roundRect">
            <a:avLst>
              <a:gd name="adj" fmla="val 20000"/>
            </a:avLst>
          </a:prstGeom>
          <a:solidFill>
            <a:srgbClr val="F1EEF6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5650" y="2514600"/>
            <a:ext cx="2628900" cy="317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11111"/>
                </a:solidFill>
                <a:latin typeface="Inter"/>
              </a:rPr>
              <a:t>tRPC </a:t>
            </a:r>
            <a:r>
              <a:rPr sz="900" b="1">
                <a:solidFill>
                  <a:srgbClr val="111111"/>
                </a:solidFill>
                <a:latin typeface="Inter"/>
              </a:rPr>
              <a:t>client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8700" y="2444750"/>
            <a:ext cx="9525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7D7A86"/>
                </a:solidFill>
                <a:latin typeface="Space Mono"/>
              </a:rPr>
              <a:t>HTTP </a:t>
            </a:r>
            <a:r>
              <a:rPr sz="750" b="1">
                <a:solidFill>
                  <a:srgbClr val="7D7A86"/>
                </a:solidFill>
                <a:latin typeface="Space Mono"/>
              </a:rPr>
              <a:t>/trpc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46500" y="2762250"/>
            <a:ext cx="469900" cy="508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 rot="5400000">
            <a:off x="4216400" y="2686050"/>
            <a:ext cx="127000" cy="165100"/>
          </a:xfrm>
          <a:prstGeom prst="triangl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65650" y="1314450"/>
            <a:ext cx="3746500" cy="2984500"/>
          </a:xfrm>
          <a:prstGeom prst="roundRect">
            <a:avLst>
              <a:gd name="adj" fmla="val 3404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21200" y="1270000"/>
            <a:ext cx="3746500" cy="298450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21200" y="1270000"/>
            <a:ext cx="3746500" cy="292100"/>
          </a:xfrm>
          <a:prstGeom prst="roundRect">
            <a:avLst>
              <a:gd name="adj" fmla="val 34782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21200" y="1460500"/>
            <a:ext cx="3746500" cy="1016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35500" y="1270000"/>
            <a:ext cx="3517900" cy="2921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Archivo"/>
              </a:rPr>
              <a:t>API </a:t>
            </a:r>
            <a:r>
              <a:rPr sz="1150" b="1">
                <a:solidFill>
                  <a:srgbClr val="FFFFFF"/>
                </a:solidFill>
                <a:latin typeface="Archivo"/>
              </a:rPr>
              <a:t> </a:t>
            </a:r>
            <a:r>
              <a:rPr sz="750" b="0">
                <a:solidFill>
                  <a:srgbClr val="CFCFCF"/>
                </a:solidFill>
                <a:latin typeface="Space Mono"/>
              </a:rPr>
              <a:t>@bethere/api </a:t>
            </a:r>
            <a:r>
              <a:rPr sz="750" b="0">
                <a:solidFill>
                  <a:srgbClr val="CFCFCF"/>
                </a:solidFill>
                <a:latin typeface="Space Mono"/>
              </a:rPr>
              <a:t>· </a:t>
            </a:r>
            <a:r>
              <a:rPr sz="750" b="0">
                <a:solidFill>
                  <a:srgbClr val="CFCFCF"/>
                </a:solidFill>
                <a:latin typeface="Space Mono"/>
              </a:rPr>
              <a:t>Fastify </a:t>
            </a:r>
            <a:r>
              <a:rPr sz="750" b="0">
                <a:solidFill>
                  <a:srgbClr val="CFCFCF"/>
                </a:solidFill>
                <a:latin typeface="Space Mono"/>
              </a:rPr>
              <a:t>+ </a:t>
            </a:r>
            <a:r>
              <a:rPr sz="750" b="0">
                <a:solidFill>
                  <a:srgbClr val="CFCFCF"/>
                </a:solidFill>
                <a:latin typeface="Space Mono"/>
              </a:rPr>
              <a:t>tRPC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22800" y="1651000"/>
            <a:ext cx="3543300" cy="304800"/>
          </a:xfrm>
          <a:prstGeom prst="roundRect">
            <a:avLst>
              <a:gd name="adj" fmla="val 20833"/>
            </a:avLst>
          </a:prstGeom>
          <a:solidFill>
            <a:srgbClr val="FCEFE8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05350" y="1651000"/>
            <a:ext cx="3378200" cy="304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11111"/>
                </a:solidFill>
                <a:latin typeface="Inter"/>
              </a:rPr>
              <a:t>createContext </a:t>
            </a:r>
            <a:r>
              <a:rPr sz="900" b="1">
                <a:solidFill>
                  <a:srgbClr val="111111"/>
                </a:solidFill>
                <a:latin typeface="Inter"/>
              </a:rPr>
              <a:t> </a:t>
            </a:r>
            <a:r>
              <a:rPr sz="900" b="1">
                <a:solidFill>
                  <a:srgbClr val="111111"/>
                </a:solidFill>
                <a:latin typeface="Inter"/>
              </a:rPr>
              <a:t>· </a:t>
            </a:r>
            <a:r>
              <a:rPr sz="900" b="1">
                <a:solidFill>
                  <a:srgbClr val="111111"/>
                </a:solidFill>
                <a:latin typeface="Inter"/>
              </a:rPr>
              <a:t>Clerk </a:t>
            </a:r>
            <a:r>
              <a:rPr sz="900" b="1">
                <a:solidFill>
                  <a:srgbClr val="111111"/>
                </a:solidFill>
                <a:latin typeface="Inter"/>
              </a:rPr>
              <a:t>auth </a:t>
            </a:r>
            <a:r>
              <a:rPr sz="900" b="1">
                <a:solidFill>
                  <a:srgbClr val="111111"/>
                </a:solidFill>
                <a:latin typeface="Inter"/>
              </a:rPr>
              <a:t>/ </a:t>
            </a:r>
            <a:r>
              <a:rPr sz="900" b="1">
                <a:solidFill>
                  <a:srgbClr val="111111"/>
                </a:solidFill>
                <a:latin typeface="Inter"/>
              </a:rPr>
              <a:t>dev </a:t>
            </a:r>
            <a:r>
              <a:rPr sz="900" b="1">
                <a:solidFill>
                  <a:srgbClr val="111111"/>
                </a:solidFill>
                <a:latin typeface="Inter"/>
              </a:rPr>
              <a:t>bypass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22800" y="2025650"/>
            <a:ext cx="3543300" cy="304800"/>
          </a:xfrm>
          <a:prstGeom prst="roundRect">
            <a:avLst>
              <a:gd name="adj" fmla="val 20833"/>
            </a:avLst>
          </a:prstGeom>
          <a:solidFill>
            <a:srgbClr val="FCEFE8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5350" y="2025650"/>
            <a:ext cx="3378200" cy="304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11111"/>
                </a:solidFill>
                <a:latin typeface="Inter"/>
              </a:rPr>
              <a:t>routers </a:t>
            </a:r>
            <a:r>
              <a:rPr sz="900" b="1">
                <a:solidFill>
                  <a:srgbClr val="111111"/>
                </a:solidFill>
                <a:latin typeface="Inter"/>
              </a:rPr>
              <a:t> </a:t>
            </a:r>
            <a:r>
              <a:rPr sz="900" b="1">
                <a:solidFill>
                  <a:srgbClr val="111111"/>
                </a:solidFill>
                <a:latin typeface="Inter"/>
              </a:rPr>
              <a:t>· </a:t>
            </a:r>
            <a:r>
              <a:rPr sz="900" b="1">
                <a:solidFill>
                  <a:srgbClr val="111111"/>
                </a:solidFill>
                <a:latin typeface="Inter"/>
              </a:rPr>
              <a:t>health </a:t>
            </a:r>
            <a:r>
              <a:rPr sz="900" b="1">
                <a:solidFill>
                  <a:srgbClr val="111111"/>
                </a:solidFill>
                <a:latin typeface="Inter"/>
              </a:rPr>
              <a:t>· </a:t>
            </a:r>
            <a:r>
              <a:rPr sz="900" b="1">
                <a:solidFill>
                  <a:srgbClr val="111111"/>
                </a:solidFill>
                <a:latin typeface="Inter"/>
              </a:rPr>
              <a:t>groups </a:t>
            </a:r>
            <a:r>
              <a:rPr sz="900" b="1">
                <a:solidFill>
                  <a:srgbClr val="111111"/>
                </a:solidFill>
                <a:latin typeface="Inter"/>
              </a:rPr>
              <a:t>· </a:t>
            </a:r>
            <a:r>
              <a:rPr sz="900" b="1">
                <a:solidFill>
                  <a:srgbClr val="111111"/>
                </a:solidFill>
                <a:latin typeface="Inter"/>
              </a:rPr>
              <a:t>events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22800" y="2400300"/>
            <a:ext cx="3543300" cy="304800"/>
          </a:xfrm>
          <a:prstGeom prst="roundRect">
            <a:avLst>
              <a:gd name="adj" fmla="val 20833"/>
            </a:avLst>
          </a:prstGeom>
          <a:solidFill>
            <a:srgbClr val="FF5CA8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05350" y="2400300"/>
            <a:ext cx="3378200" cy="304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Inter"/>
              </a:rPr>
              <a:t>settlePhase </a:t>
            </a:r>
            <a:r>
              <a:rPr sz="900" b="1">
                <a:solidFill>
                  <a:srgbClr val="FFFFFF"/>
                </a:solidFill>
                <a:latin typeface="Inter"/>
              </a:rPr>
              <a:t> </a:t>
            </a:r>
            <a:r>
              <a:rPr sz="900" b="1">
                <a:solidFill>
                  <a:srgbClr val="FFFFFF"/>
                </a:solidFill>
                <a:latin typeface="Inter"/>
              </a:rPr>
              <a:t>· </a:t>
            </a:r>
            <a:r>
              <a:rPr sz="900" b="1">
                <a:solidFill>
                  <a:srgbClr val="FFFFFF"/>
                </a:solidFill>
                <a:latin typeface="Inter"/>
              </a:rPr>
              <a:t>lazy </a:t>
            </a:r>
            <a:r>
              <a:rPr sz="900" b="1">
                <a:solidFill>
                  <a:srgbClr val="FFFFFF"/>
                </a:solidFill>
                <a:latin typeface="Inter"/>
              </a:rPr>
              <a:t>resolve, </a:t>
            </a:r>
            <a:r>
              <a:rPr sz="900" b="1">
                <a:solidFill>
                  <a:srgbClr val="FFFFFF"/>
                </a:solidFill>
                <a:latin typeface="Inter"/>
              </a:rPr>
              <a:t>no </a:t>
            </a:r>
            <a:r>
              <a:rPr sz="900" b="1">
                <a:solidFill>
                  <a:srgbClr val="FFFFFF"/>
                </a:solidFill>
                <a:latin typeface="Inter"/>
              </a:rPr>
              <a:t>scheduler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622800" y="2774950"/>
            <a:ext cx="3543300" cy="304800"/>
          </a:xfrm>
          <a:prstGeom prst="roundRect">
            <a:avLst>
              <a:gd name="adj" fmla="val 20833"/>
            </a:avLst>
          </a:prstGeom>
          <a:solidFill>
            <a:srgbClr val="FCEFE8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05350" y="2774950"/>
            <a:ext cx="3378200" cy="304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11111"/>
                </a:solidFill>
                <a:latin typeface="Inter"/>
              </a:rPr>
              <a:t>Drizzle </a:t>
            </a:r>
            <a:r>
              <a:rPr sz="900" b="1">
                <a:solidFill>
                  <a:srgbClr val="111111"/>
                </a:solidFill>
                <a:latin typeface="Inter"/>
              </a:rPr>
              <a:t>ORM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67700" y="2444750"/>
            <a:ext cx="9525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7D7A86"/>
                </a:solidFill>
                <a:latin typeface="Space Mono"/>
              </a:rPr>
              <a:t>Drizzle </a:t>
            </a:r>
            <a:r>
              <a:rPr sz="750" b="1">
                <a:solidFill>
                  <a:srgbClr val="7D7A86"/>
                </a:solidFill>
                <a:latin typeface="Space Mono"/>
              </a:rPr>
              <a:t>SQL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45500" y="2762250"/>
            <a:ext cx="469900" cy="508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sosceles Triangle 39"/>
          <p:cNvSpPr/>
          <p:nvPr/>
        </p:nvSpPr>
        <p:spPr>
          <a:xfrm rot="5400000">
            <a:off x="8915400" y="2686050"/>
            <a:ext cx="127000" cy="165100"/>
          </a:xfrm>
          <a:prstGeom prst="triangl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264650" y="1314450"/>
            <a:ext cx="2400300" cy="2984500"/>
          </a:xfrm>
          <a:prstGeom prst="roundRect">
            <a:avLst>
              <a:gd name="adj" fmla="val 4232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220200" y="1270000"/>
            <a:ext cx="2400300" cy="2984500"/>
          </a:xfrm>
          <a:prstGeom prst="roundRect">
            <a:avLst>
              <a:gd name="adj" fmla="val 4232"/>
            </a:avLst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220200" y="1270000"/>
            <a:ext cx="2400300" cy="292100"/>
          </a:xfrm>
          <a:prstGeom prst="roundRect">
            <a:avLst>
              <a:gd name="adj" fmla="val 34782"/>
            </a:avLst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220200" y="1460500"/>
            <a:ext cx="2400300" cy="1016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34500" y="1270000"/>
            <a:ext cx="2171700" cy="2921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Archivo"/>
              </a:rPr>
              <a:t>Data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321800" y="1651000"/>
            <a:ext cx="2197100" cy="342900"/>
          </a:xfrm>
          <a:prstGeom prst="roundRect">
            <a:avLst>
              <a:gd name="adj" fmla="val 18518"/>
            </a:avLst>
          </a:prstGeom>
          <a:solidFill>
            <a:srgbClr val="E7F6EC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404350" y="1651000"/>
            <a:ext cx="2032000" cy="342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11111"/>
                </a:solidFill>
                <a:latin typeface="Inter"/>
              </a:rPr>
              <a:t>Postgres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321800" y="2063750"/>
            <a:ext cx="2197100" cy="609600"/>
          </a:xfrm>
          <a:prstGeom prst="roundRect">
            <a:avLst>
              <a:gd name="adj" fmla="val 10416"/>
            </a:avLst>
          </a:prstGeom>
          <a:solidFill>
            <a:srgbClr val="E7F6EC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404350" y="2063750"/>
            <a:ext cx="2032000" cy="609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55555"/>
                </a:solidFill>
                <a:latin typeface="Inter"/>
              </a:rPr>
              <a:t>8 </a:t>
            </a:r>
            <a:r>
              <a:rPr sz="800" b="0">
                <a:solidFill>
                  <a:srgbClr val="555555"/>
                </a:solidFill>
                <a:latin typeface="Inter"/>
              </a:rPr>
              <a:t>tables </a:t>
            </a:r>
            <a:r>
              <a:rPr sz="800" b="0">
                <a:solidFill>
                  <a:srgbClr val="555555"/>
                </a:solidFill>
                <a:latin typeface="Inter"/>
              </a:rPr>
              <a:t>· </a:t>
            </a:r>
            <a:r>
              <a:rPr sz="800" b="0">
                <a:solidFill>
                  <a:srgbClr val="555555"/>
                </a:solidFill>
                <a:latin typeface="Inter"/>
              </a:rPr>
              <a:t>users, </a:t>
            </a:r>
            <a:r>
              <a:rPr sz="800" b="0">
                <a:solidFill>
                  <a:srgbClr val="555555"/>
                </a:solidFill>
                <a:latin typeface="Inter"/>
              </a:rPr>
              <a:t>groups, </a:t>
            </a:r>
            <a:r>
              <a:rPr sz="800" b="0">
                <a:solidFill>
                  <a:srgbClr val="555555"/>
                </a:solidFill>
                <a:latin typeface="Inter"/>
              </a:rPr>
              <a:t>events, 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55555"/>
                </a:solidFill>
                <a:latin typeface="Inter"/>
              </a:rPr>
              <a:t>candidates, </a:t>
            </a:r>
            <a:r>
              <a:rPr sz="800" b="0">
                <a:solidFill>
                  <a:srgbClr val="555555"/>
                </a:solidFill>
                <a:latin typeface="Inter"/>
              </a:rPr>
              <a:t>reactions, </a:t>
            </a:r>
            <a:r>
              <a:rPr sz="800" b="0">
                <a:solidFill>
                  <a:srgbClr val="555555"/>
                </a:solidFill>
                <a:latin typeface="Inter"/>
              </a:rPr>
              <a:t>responses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71500" y="4419600"/>
            <a:ext cx="6413500" cy="609600"/>
          </a:xfrm>
          <a:prstGeom prst="roundRect">
            <a:avLst>
              <a:gd name="adj" fmla="val 14583"/>
            </a:avLst>
          </a:prstGeom>
          <a:solidFill>
            <a:srgbClr val="ECEAFF"/>
          </a:solidFill>
          <a:ln w="19050">
            <a:solidFill>
              <a:srgbClr val="7E6BB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2000" y="4419600"/>
            <a:ext cx="1587500" cy="609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E6BB0"/>
                </a:solidFill>
                <a:latin typeface="Space Mono"/>
              </a:rPr>
              <a:t>@bethere/shared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349500" y="4419600"/>
            <a:ext cx="3873500" cy="609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11111"/>
                </a:solidFill>
                <a:latin typeface="Inter"/>
              </a:rPr>
              <a:t>Zod </a:t>
            </a:r>
            <a:r>
              <a:rPr sz="1000" b="0">
                <a:solidFill>
                  <a:srgbClr val="111111"/>
                </a:solidFill>
                <a:latin typeface="Inter"/>
              </a:rPr>
              <a:t>schemas </a:t>
            </a:r>
            <a:r>
              <a:rPr sz="1000" b="0">
                <a:solidFill>
                  <a:srgbClr val="111111"/>
                </a:solidFill>
                <a:latin typeface="Inter"/>
              </a:rPr>
              <a:t>+ </a:t>
            </a:r>
            <a:r>
              <a:rPr sz="1000" b="0">
                <a:solidFill>
                  <a:srgbClr val="111111"/>
                </a:solidFill>
                <a:latin typeface="Inter"/>
              </a:rPr>
              <a:t>pure </a:t>
            </a:r>
            <a:r>
              <a:rPr sz="1000" b="0">
                <a:solidFill>
                  <a:srgbClr val="111111"/>
                </a:solidFill>
                <a:latin typeface="Inter"/>
              </a:rPr>
              <a:t>logic </a:t>
            </a:r>
            <a:r>
              <a:rPr sz="1000" b="0">
                <a:solidFill>
                  <a:srgbClr val="111111"/>
                </a:solidFill>
                <a:latin typeface="Inter"/>
              </a:rPr>
              <a:t>- </a:t>
            </a:r>
            <a:r>
              <a:rPr sz="1000" b="1">
                <a:solidFill>
                  <a:srgbClr val="111111"/>
                </a:solidFill>
                <a:latin typeface="Inter"/>
              </a:rPr>
              <a:t>resolveIn </a:t>
            </a:r>
            <a:r>
              <a:rPr sz="1000" b="1">
                <a:solidFill>
                  <a:srgbClr val="111111"/>
                </a:solidFill>
                <a:latin typeface="Inter"/>
              </a:rPr>
              <a:t>· </a:t>
            </a:r>
            <a:r>
              <a:rPr sz="1000" b="1">
                <a:solidFill>
                  <a:srgbClr val="111111"/>
                </a:solidFill>
                <a:latin typeface="Inter"/>
              </a:rPr>
              <a:t>revealGoing </a:t>
            </a:r>
            <a:r>
              <a:rPr sz="1000" b="1">
                <a:solidFill>
                  <a:srgbClr val="111111"/>
                </a:solidFill>
                <a:latin typeface="Inter"/>
              </a:rPr>
              <a:t>· </a:t>
            </a:r>
            <a:r>
              <a:rPr sz="1000" b="1">
                <a:solidFill>
                  <a:srgbClr val="111111"/>
                </a:solidFill>
                <a:latin typeface="Inter"/>
              </a:rPr>
              <a:t>tally</a:t>
            </a:r>
            <a:r>
              <a:rPr sz="1000" b="0">
                <a:solidFill>
                  <a:srgbClr val="111111"/>
                </a:solidFill>
                <a:latin typeface="Inter"/>
              </a:rPr>
              <a:t>. </a:t>
            </a:r>
            <a:r>
              <a:rPr sz="1000" b="0">
                <a:solidFill>
                  <a:srgbClr val="111111"/>
                </a:solidFill>
                <a:latin typeface="Inter"/>
              </a:rPr>
              <a:t>One 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111111"/>
                </a:solidFill>
                <a:latin typeface="Inter"/>
              </a:rPr>
              <a:t>source </a:t>
            </a:r>
            <a:r>
              <a:rPr sz="1000" b="0">
                <a:solidFill>
                  <a:srgbClr val="111111"/>
                </a:solidFill>
                <a:latin typeface="Inter"/>
              </a:rPr>
              <a:t>of </a:t>
            </a:r>
            <a:r>
              <a:rPr sz="1000" b="0">
                <a:solidFill>
                  <a:srgbClr val="111111"/>
                </a:solidFill>
                <a:latin typeface="Inter"/>
              </a:rPr>
              <a:t>truth; </a:t>
            </a:r>
            <a:r>
              <a:rPr sz="1000" b="0">
                <a:solidFill>
                  <a:srgbClr val="111111"/>
                </a:solidFill>
                <a:latin typeface="Inter"/>
              </a:rPr>
              <a:t>feeds </a:t>
            </a:r>
            <a:r>
              <a:rPr sz="1000" b="0">
                <a:solidFill>
                  <a:srgbClr val="111111"/>
                </a:solidFill>
                <a:latin typeface="Inter"/>
              </a:rPr>
              <a:t>both </a:t>
            </a:r>
            <a:r>
              <a:rPr sz="1000" b="0">
                <a:solidFill>
                  <a:srgbClr val="111111"/>
                </a:solidFill>
                <a:latin typeface="Inter"/>
              </a:rPr>
              <a:t>client </a:t>
            </a:r>
            <a:r>
              <a:rPr sz="1000" b="0">
                <a:solidFill>
                  <a:srgbClr val="111111"/>
                </a:solidFill>
                <a:latin typeface="Inter"/>
              </a:rPr>
              <a:t>and </a:t>
            </a:r>
            <a:r>
              <a:rPr sz="1000" b="0">
                <a:solidFill>
                  <a:srgbClr val="111111"/>
                </a:solidFill>
                <a:latin typeface="Inter"/>
              </a:rPr>
              <a:t>server.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175500" y="4419600"/>
            <a:ext cx="4445000" cy="609600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9050">
            <a:solidFill>
              <a:srgbClr val="9A97A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27900" y="4419600"/>
            <a:ext cx="1270000" cy="609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spc="50">
                <a:solidFill>
                  <a:srgbClr val="9A97A2"/>
                </a:solidFill>
                <a:latin typeface="Inter"/>
              </a:rPr>
              <a:t>OUTSIDE </a:t>
            </a:r>
            <a:r>
              <a:rPr sz="800" b="1" spc="50">
                <a:solidFill>
                  <a:srgbClr val="9A97A2"/>
                </a:solidFill>
                <a:latin typeface="Inter"/>
              </a:rPr>
              <a:t>OUR </a:t>
            </a:r>
            <a:r>
              <a:rPr sz="800" b="1" spc="50">
                <a:solidFill>
                  <a:srgbClr val="9A97A2"/>
                </a:solidFill>
                <a:latin typeface="Inter"/>
              </a:rPr>
              <a:t>CODE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572500" y="4610100"/>
            <a:ext cx="459482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72500" y="4610100"/>
            <a:ext cx="459482" cy="228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11111"/>
                </a:solidFill>
                <a:latin typeface="Inter"/>
              </a:rPr>
              <a:t>Clerk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095482" y="4610100"/>
            <a:ext cx="1081087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95482" y="4610100"/>
            <a:ext cx="1081087" cy="228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11111"/>
                </a:solidFill>
                <a:latin typeface="Inter"/>
              </a:rPr>
              <a:t>AWS </a:t>
            </a:r>
            <a:r>
              <a:rPr sz="850" b="1">
                <a:solidFill>
                  <a:srgbClr val="111111"/>
                </a:solidFill>
                <a:latin typeface="Inter"/>
              </a:rPr>
              <a:t>App </a:t>
            </a:r>
            <a:r>
              <a:rPr sz="850" b="1">
                <a:solidFill>
                  <a:srgbClr val="111111"/>
                </a:solidFill>
                <a:latin typeface="Inter"/>
              </a:rPr>
              <a:t>Runner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240069" y="4610100"/>
            <a:ext cx="514449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240069" y="4610100"/>
            <a:ext cx="514449" cy="228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11111"/>
                </a:solidFill>
                <a:latin typeface="Inter"/>
              </a:rPr>
              <a:t>Vercel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